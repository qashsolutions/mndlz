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532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Invisible Stockouts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Hero SKUs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Dairy Milk, 5 Star, and Oreo go empty at kiranas with no signal back to Mondelez. The sale is lost before anyone knows.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stockout-driven revenue leakage in one territory and prove AI can predict it — in 90 days.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3749040" cy="256032"/>
          </a:xfrm>
          <a:prstGeom prst="roundRect">
            <a:avLst>
              <a:gd name="adj" fmla="val 25000"/>
            </a:avLst>
          </a:prstGeom>
          <a:solidFill>
            <a:srgbClr val="FDF0EC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205740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2359152"/>
            <a:ext cx="41148" cy="640080"/>
          </a:xfrm>
          <a:prstGeom prst="rect">
            <a:avLst/>
          </a:prstGeom>
          <a:solidFill>
            <a:srgbClr val="D4532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359152"/>
            <a:ext cx="3593592" cy="640080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3M outlets. Limited shelf visibility.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</a:rPr>
              <a:t>Existing SFA captures orders, not shelf reality. Stockouts on top SKUs go undetected until the next visit.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108960"/>
            <a:ext cx="3749040" cy="256032"/>
          </a:xfrm>
          <a:prstGeom prst="roundRect">
            <a:avLst>
              <a:gd name="adj" fmla="val 25000"/>
            </a:avLst>
          </a:prstGeom>
          <a:solidFill>
            <a:srgbClr val="EBF5F1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310896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3410712"/>
            <a:ext cx="41148" cy="457200"/>
          </a:xfrm>
          <a:prstGeom prst="rect">
            <a:avLst/>
          </a:prstGeom>
          <a:solidFill>
            <a:srgbClr val="2A7F62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410712"/>
            <a:ext cx="3593592" cy="457200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Predict demand at every outlet, every week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</a:rPr>
              <a:t>ML forecasts SKU-level demand per store — flags stockout risk before it happens.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005072"/>
            <a:ext cx="3749040" cy="256032"/>
          </a:xfrm>
          <a:prstGeom prst="roundRect">
            <a:avLst>
              <a:gd name="adj" fmla="val 25000"/>
            </a:avLst>
          </a:prstGeom>
          <a:solidFill>
            <a:srgbClr val="EBF5F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40050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91640" y="4315968"/>
            <a:ext cx="0" cy="384048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4315968"/>
            <a:ext cx="0" cy="384048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7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3–7%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" y="4572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recovery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(industry benchmark)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78308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7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↓40%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83080" y="4572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Damages &amp; expiry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(est.)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06324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7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063240" y="4572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proof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09160" y="2057400"/>
            <a:ext cx="3931920" cy="256032"/>
          </a:xfrm>
          <a:prstGeom prst="roundRect">
            <a:avLst>
              <a:gd name="adj" fmla="val 25000"/>
            </a:avLst>
          </a:prstGeom>
          <a:solidFill>
            <a:srgbClr val="FBF6E9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205740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49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2359152"/>
            <a:ext cx="41148" cy="713232"/>
          </a:xfrm>
          <a:prstGeom prst="rect">
            <a:avLst/>
          </a:prstGeom>
          <a:solidFill>
            <a:srgbClr val="C49A2A"/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2359152"/>
            <a:ext cx="3776472" cy="713232"/>
          </a:xfrm>
          <a:prstGeom prst="rect">
            <a:avLst/>
          </a:prstGeom>
          <a:noFill/>
          <a:ln/>
        </p:spPr>
        <p:txBody>
          <a:bodyPr wrap="square" lIns="63500" tIns="76200" rIns="76200" bIns="381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1A"/>
                </a:solidFill>
              </a:rPr>
              <a:t>12 months secondary sales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2D2D"/>
                </a:solidFill>
              </a:rPr>
              <a:t>1 ZSM territory  ·  Top 20 chocolate SKUs  ·  ~500 outlets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2D2D"/>
                </a:solidFill>
              </a:rPr>
              <a:t>Outlet master  ·  Distributor stock-on-hand  ·  Returns / expiry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200400"/>
            <a:ext cx="3931920" cy="256032"/>
          </a:xfrm>
          <a:prstGeom prst="roundRect">
            <a:avLst>
              <a:gd name="adj" fmla="val 25000"/>
            </a:avLst>
          </a:prstGeom>
          <a:solidFill>
            <a:srgbClr val="EBF5F1"/>
          </a:solidFill>
          <a:ln/>
        </p:spPr>
      </p:sp>
      <p:sp>
        <p:nvSpPr>
          <p:cNvPr id="30" name="Text 28"/>
          <p:cNvSpPr/>
          <p:nvPr/>
        </p:nvSpPr>
        <p:spPr>
          <a:xfrm>
            <a:off x="4818888" y="320040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64024" y="352044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38344" y="35204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38344" y="370332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89904" y="352044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64224" y="35204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64224" y="370332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415784" y="352044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90104" y="35204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690104" y="370332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control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4005072"/>
            <a:ext cx="3931920" cy="256032"/>
          </a:xfrm>
          <a:prstGeom prst="roundRect">
            <a:avLst>
              <a:gd name="adj" fmla="val 25000"/>
            </a:avLst>
          </a:prstGeom>
          <a:solidFill>
            <a:srgbClr val="FBF6E9"/>
          </a:solidFill>
          <a:ln/>
        </p:spPr>
      </p:sp>
      <p:sp>
        <p:nvSpPr>
          <p:cNvPr id="41" name="Text 39"/>
          <p:cNvSpPr/>
          <p:nvPr/>
        </p:nvSpPr>
        <p:spPr>
          <a:xfrm>
            <a:off x="4818888" y="400507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49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09160" y="43159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heatmap  ·  Revenue-at-risk sizing  ·  Scale / no-scale memo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A7F6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Mix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Shelf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SKU push to every kirana. Chennai, Lucknow, Surat — different consumers, identical distribution.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that AI-curated baskets lift secondary sales vs. uniform push — in a single territory, 90 days.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3749040" cy="256032"/>
          </a:xfrm>
          <a:prstGeom prst="roundRect">
            <a:avLst>
              <a:gd name="adj" fmla="val 25000"/>
            </a:avLst>
          </a:prstGeom>
          <a:solidFill>
            <a:srgbClr val="FDF0EC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205740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2359152"/>
            <a:ext cx="41148" cy="640080"/>
          </a:xfrm>
          <a:prstGeom prst="rect">
            <a:avLst/>
          </a:prstGeom>
          <a:solidFill>
            <a:srgbClr val="D4532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359152"/>
            <a:ext cx="3593592" cy="640080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One-size-fits-all push to 3M outlets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</a:rPr>
              <a:t>Slow movers block shelf space. Fast movers stockout. Pack size, price tier, and taste vary by pin code.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108960"/>
            <a:ext cx="3749040" cy="256032"/>
          </a:xfrm>
          <a:prstGeom prst="roundRect">
            <a:avLst>
              <a:gd name="adj" fmla="val 25000"/>
            </a:avLst>
          </a:prstGeom>
          <a:solidFill>
            <a:srgbClr val="EBF5F1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310896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3410712"/>
            <a:ext cx="41148" cy="457200"/>
          </a:xfrm>
          <a:prstGeom prst="rect">
            <a:avLst/>
          </a:prstGeom>
          <a:solidFill>
            <a:srgbClr val="2A7F62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410712"/>
            <a:ext cx="3593592" cy="457200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</a:rPr>
              <a:t>AI-curated basket per outlet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</a:rPr>
              <a:t>Right SKUs, right pack size, right quantity — tuned to each store's actual demand pattern.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005072"/>
            <a:ext cx="3749040" cy="256032"/>
          </a:xfrm>
          <a:prstGeom prst="roundRect">
            <a:avLst>
              <a:gd name="adj" fmla="val 25000"/>
            </a:avLst>
          </a:prstGeom>
          <a:solidFill>
            <a:srgbClr val="EBF5F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4005072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91640" y="4315968"/>
            <a:ext cx="0" cy="384048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4315968"/>
            <a:ext cx="0" cy="384048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7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20–25%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" y="4572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lift per outlet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(industry benchmark)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78308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7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83080" y="4572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frequency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(Marico D2R ref.)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06324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7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↓30%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063240" y="4572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Slow-mover inventory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(est.)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09160" y="2057400"/>
            <a:ext cx="3931920" cy="256032"/>
          </a:xfrm>
          <a:prstGeom prst="roundRect">
            <a:avLst>
              <a:gd name="adj" fmla="val 25000"/>
            </a:avLst>
          </a:prstGeom>
          <a:solidFill>
            <a:srgbClr val="FBF6E9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205740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49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2359152"/>
            <a:ext cx="41148" cy="713232"/>
          </a:xfrm>
          <a:prstGeom prst="rect">
            <a:avLst/>
          </a:prstGeom>
          <a:solidFill>
            <a:srgbClr val="C49A2A"/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2359152"/>
            <a:ext cx="3776472" cy="713232"/>
          </a:xfrm>
          <a:prstGeom prst="rect">
            <a:avLst/>
          </a:prstGeom>
          <a:noFill/>
          <a:ln/>
        </p:spPr>
        <p:txBody>
          <a:bodyPr wrap="square" lIns="63500" tIns="76200" rIns="76200" bIns="3810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1A"/>
                </a:solidFill>
              </a:rPr>
              <a:t>Full-catalog secondary sales by outlet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2D2D"/>
                </a:solidFill>
              </a:rPr>
              <a:t>Same territory  ·  All SKUs, not just top 20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2D2D"/>
                </a:solidFill>
              </a:rPr>
              <a:t>Beat plan + visit logs  ·  Scheme calendar  ·  SFA exports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200400"/>
            <a:ext cx="3931920" cy="256032"/>
          </a:xfrm>
          <a:prstGeom prst="roundRect">
            <a:avLst>
              <a:gd name="adj" fmla="val 25000"/>
            </a:avLst>
          </a:prstGeom>
          <a:solidFill>
            <a:srgbClr val="EBF5F1"/>
          </a:solidFill>
          <a:ln/>
        </p:spPr>
      </p:sp>
      <p:sp>
        <p:nvSpPr>
          <p:cNvPr id="30" name="Text 28"/>
          <p:cNvSpPr/>
          <p:nvPr/>
        </p:nvSpPr>
        <p:spPr>
          <a:xfrm>
            <a:off x="4818888" y="320040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64024" y="352044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38344" y="35204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38344" y="370332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archetypes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89904" y="352044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64224" y="35204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64224" y="370332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per-store basket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415784" y="352044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F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90104" y="35204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690104" y="370332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vs control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4005072"/>
            <a:ext cx="3931920" cy="256032"/>
          </a:xfrm>
          <a:prstGeom prst="roundRect">
            <a:avLst>
              <a:gd name="adj" fmla="val 25000"/>
            </a:avLst>
          </a:prstGeom>
          <a:solidFill>
            <a:srgbClr val="FBF6E9"/>
          </a:solidFill>
          <a:ln/>
        </p:spPr>
      </p:sp>
      <p:sp>
        <p:nvSpPr>
          <p:cNvPr id="41" name="Text 39"/>
          <p:cNvSpPr/>
          <p:nvPr/>
        </p:nvSpPr>
        <p:spPr>
          <a:xfrm>
            <a:off x="4818888" y="400507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49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09160" y="43159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archetype map  ·  Per-store basket engine  ·  Lift vs. control beats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Mondelez India — AI POC Proposal</dc:title>
  <dc:subject>PptxGenJS Presentation</dc:subject>
  <dc:creator>Venkata</dc:creator>
  <cp:lastModifiedBy>Venkata</cp:lastModifiedBy>
  <cp:revision>1</cp:revision>
  <dcterms:created xsi:type="dcterms:W3CDTF">2026-04-10T16:31:37Z</dcterms:created>
  <dcterms:modified xsi:type="dcterms:W3CDTF">2026-04-10T16:31:37Z</dcterms:modified>
</cp:coreProperties>
</file>